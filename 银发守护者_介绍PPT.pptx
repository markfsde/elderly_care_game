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0"/>
  </p:normalViewPr>
  <p:slideViewPr>
    <p:cSldViewPr snapToGrid="0" snapToObjects="1">
      <p:cViewPr varScale="1">
        <p:scale>
          <a:sx n="111" d="100"/>
          <a:sy n="111" d="100"/>
        </p:scale>
        <p:origin x="73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8079" y="-182880"/>
            <a:ext cx="5303520" cy="5303520"/>
          </a:xfrm>
          <a:prstGeom prst="ellipse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4630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0" i="0">
                <a:solidFill>
                  <a:srgbClr val="3D1F00"/>
                </a:solidFill>
              </a:rPr>
              <a:t>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6858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银发守护者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C89868"/>
                </a:solidFill>
              </a:rPr>
              <a:t>陪伴是最长情的告白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83480"/>
            <a:ext cx="2286000" cy="438912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2286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养成模拟游戏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72354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 dirty="0" err="1">
                <a:solidFill>
                  <a:srgbClr val="3D1F00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作品简介</a:t>
            </a:r>
            <a:endParaRPr sz="3000" b="1" i="0" dirty="0">
              <a:solidFill>
                <a:srgbClr val="3D1F00"/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94960" cy="4709160"/>
          </a:xfrm>
          <a:prstGeom prst="rect">
            <a:avLst/>
          </a:prstGeom>
          <a:solidFill>
            <a:srgbClr val="FFF3E0"/>
          </a:solidFill>
          <a:ln w="12700">
            <a:solidFill>
              <a:srgbClr val="E0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4832A"/>
                </a:solidFill>
              </a:rPr>
              <a:t>游戏背景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暑假开始了，爷爷/奶奶独自在家，你身处外地只能远程联系。
8周内帮老人跨越数字鸿沟，找到银发一代的晚年价值。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4832A"/>
                </a:solidFill>
              </a:rPr>
              <a:t>三大核心属性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3840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3D1F00"/>
                </a:solidFill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3D1F00"/>
                </a:solidFill>
              </a:rPr>
              <a:t>数字生存力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447288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B6247"/>
                </a:solidFill>
              </a:rPr>
              <a:t>学会手机购物、防骗、挂号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50791"/>
            <a:ext cx="3840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3D1F00"/>
                </a:solidFill>
              </a:rPr>
              <a:t>❤️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69079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3D1F00"/>
                </a:solidFill>
              </a:rPr>
              <a:t>健康幸福感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069079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B6247"/>
                </a:solidFill>
              </a:rPr>
              <a:t>保持良好的身心健康状态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72584"/>
            <a:ext cx="3840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3D1F00"/>
                </a:solidFill>
              </a:rP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690872"/>
            <a:ext cx="1417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3D1F00"/>
                </a:solidFill>
              </a:rPr>
              <a:t>社交活跃度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690872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B6247"/>
                </a:solidFill>
              </a:rPr>
              <a:t>融入社区、重建社会联结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371600"/>
            <a:ext cx="2377440" cy="1298448"/>
          </a:xfrm>
          <a:prstGeom prst="rect">
            <a:avLst/>
          </a:prstGeom>
          <a:solidFill>
            <a:srgbClr val="FFF3E0"/>
          </a:solidFill>
          <a:ln w="1905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408176"/>
            <a:ext cx="2377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D4832A"/>
                </a:solidFill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60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8B6247"/>
                </a:solidFill>
              </a:rPr>
              <a:t>周游戏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08592" y="1371600"/>
            <a:ext cx="2377440" cy="1298448"/>
          </a:xfrm>
          <a:prstGeom prst="rect">
            <a:avLst/>
          </a:prstGeom>
          <a:solidFill>
            <a:srgbClr val="FFF3E0"/>
          </a:solidFill>
          <a:ln w="1905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08592" y="1408176"/>
            <a:ext cx="2377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D4832A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194560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8B6247"/>
                </a:solidFill>
              </a:rPr>
              <a:t>次行动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880360"/>
            <a:ext cx="2377440" cy="1298448"/>
          </a:xfrm>
          <a:prstGeom prst="rect">
            <a:avLst/>
          </a:prstGeom>
          <a:solidFill>
            <a:srgbClr val="FFF3E0"/>
          </a:solidFill>
          <a:ln w="1905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2916936"/>
            <a:ext cx="2377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D4832A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03320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8B6247"/>
                </a:solidFill>
              </a:rPr>
              <a:t>种小游戏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08592" y="2880360"/>
            <a:ext cx="2377440" cy="1298448"/>
          </a:xfrm>
          <a:prstGeom prst="rect">
            <a:avLst/>
          </a:prstGeom>
          <a:solidFill>
            <a:srgbClr val="FFF3E0"/>
          </a:solidFill>
          <a:ln w="1905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08592" y="2916936"/>
            <a:ext cx="237744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D4832A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3703320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8B6247"/>
                </a:solidFill>
              </a:rPr>
              <a:t>种结局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72354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 dirty="0" err="1">
                <a:solidFill>
                  <a:srgbClr val="3D1F00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游戏机制</a:t>
            </a:r>
            <a:endParaRPr sz="3000" b="1" i="0" dirty="0">
              <a:solidFill>
                <a:srgbClr val="3D1F00"/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353312"/>
            <a:ext cx="5440680" cy="44348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536192"/>
            <a:ext cx="4937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3D1F00"/>
                </a:solidFill>
              </a:rPr>
              <a:t>📞 周中远程连线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29968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D4832A"/>
                </a:solidFill>
              </a:rPr>
              <a:t>每周仅 3 次行动机会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57860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45059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布置学习任务（教老人用手机）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317296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04495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网购生活道具（防诈骗/适老化）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376732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63931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任务与购物共享次数，合理分配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436168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23367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完成任务提升对应属性值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353312"/>
            <a:ext cx="5440680" cy="44348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6248" y="1536192"/>
            <a:ext cx="4937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3D1F00"/>
                </a:solidFill>
              </a:rPr>
              <a:t>🏠 周末回家陪伴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029968"/>
            <a:ext cx="4937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>
                <a:solidFill>
                  <a:srgbClr val="D4832A"/>
                </a:solidFill>
              </a:rPr>
              <a:t>3 点行动力深度互动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11112" y="257860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45059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触发 5 种互动小游戏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11112" y="317296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304495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每周活动组合轮换，体验不重复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11112" y="376732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363931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通关小游戏获得额外属性加成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1112" y="436168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23367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随机事件考验道具与应对策略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🏆  真结局：数字生存力 ≥78  ·  社交活跃度 ≥78  ·  健康幸福感 ≥62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87771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 dirty="0" err="1">
                <a:solidFill>
                  <a:srgbClr val="3D1F00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五种互动小游戏</a:t>
            </a:r>
            <a:endParaRPr sz="3000" b="1" i="0" dirty="0">
              <a:solidFill>
                <a:srgbClr val="3D1F00"/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5488" y="1353312"/>
            <a:ext cx="3611880" cy="2121408"/>
          </a:xfrm>
          <a:prstGeom prst="rect">
            <a:avLst/>
          </a:prstGeom>
          <a:solidFill>
            <a:srgbClr val="FFF3E0"/>
          </a:solidFill>
          <a:ln w="1524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536192"/>
            <a:ext cx="621792" cy="621792"/>
          </a:xfrm>
          <a:prstGeom prst="ellipse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62179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3D1F00"/>
                </a:solidFill>
              </a:rPr>
              <a:t>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591056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3D1F00"/>
                </a:solidFill>
              </a:rPr>
              <a:t>防诈骗问答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9424"/>
            <a:ext cx="32461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B6247"/>
                </a:solidFill>
              </a:rPr>
              <a:t>识别电信诈骗话术，守护老人财产安全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72384"/>
            <a:ext cx="1737360" cy="274320"/>
          </a:xfrm>
          <a:prstGeom prst="rect">
            <a:avLst/>
          </a:prstGeom>
          <a:solidFill>
            <a:srgbClr val="F5C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072384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D1F00"/>
                </a:solidFill>
              </a:rPr>
              <a:t>+数字生存力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53312"/>
            <a:ext cx="3611880" cy="2121408"/>
          </a:xfrm>
          <a:prstGeom prst="rect">
            <a:avLst/>
          </a:prstGeom>
          <a:solidFill>
            <a:srgbClr val="FFF3E0"/>
          </a:solidFill>
          <a:ln w="1524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53712" y="1536192"/>
            <a:ext cx="621792" cy="621792"/>
          </a:xfrm>
          <a:prstGeom prst="ellipse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517904"/>
            <a:ext cx="62179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3D1F00"/>
                </a:solidFill>
              </a:rPr>
              <a:t>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591056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3D1F00"/>
                </a:solidFill>
              </a:rPr>
              <a:t>三高食材搭配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249424"/>
            <a:ext cx="32461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B6247"/>
                </a:solidFill>
              </a:rPr>
              <a:t>科学配餐低盐低糖低脂，关注慢病管理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072384"/>
            <a:ext cx="1737360" cy="274320"/>
          </a:xfrm>
          <a:prstGeom prst="rect">
            <a:avLst/>
          </a:prstGeom>
          <a:solidFill>
            <a:srgbClr val="F5C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3072384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D1F00"/>
                </a:solidFill>
              </a:rPr>
              <a:t>+健康幸福感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2752" y="1353312"/>
            <a:ext cx="3611880" cy="2121408"/>
          </a:xfrm>
          <a:prstGeom prst="rect">
            <a:avLst/>
          </a:prstGeom>
          <a:solidFill>
            <a:srgbClr val="FFF3E0"/>
          </a:solidFill>
          <a:ln w="1524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67344" y="1536192"/>
            <a:ext cx="621792" cy="621792"/>
          </a:xfrm>
          <a:prstGeom prst="ellipse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67344" y="1517904"/>
            <a:ext cx="62179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3D1F00"/>
                </a:solidFill>
              </a:rPr>
              <a:t>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1591056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3D1F00"/>
                </a:solidFill>
              </a:rPr>
              <a:t>NPC对话选择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249424"/>
            <a:ext cx="32461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B6247"/>
                </a:solidFill>
              </a:rPr>
              <a:t>与邻居、居委会互动，拓展社交圈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67344" y="3072384"/>
            <a:ext cx="1737360" cy="274320"/>
          </a:xfrm>
          <a:prstGeom prst="rect">
            <a:avLst/>
          </a:prstGeom>
          <a:solidFill>
            <a:srgbClr val="F5C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67344" y="3072384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D1F00"/>
                </a:solidFill>
              </a:rPr>
              <a:t>+社交活跃度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3730752"/>
            <a:ext cx="3611880" cy="2121408"/>
          </a:xfrm>
          <a:prstGeom prst="rect">
            <a:avLst/>
          </a:prstGeom>
          <a:solidFill>
            <a:srgbClr val="FFF3E0"/>
          </a:solidFill>
          <a:ln w="1524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084832" y="3913632"/>
            <a:ext cx="621792" cy="621792"/>
          </a:xfrm>
          <a:prstGeom prst="ellipse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84832" y="3895344"/>
            <a:ext cx="62179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3D1F00"/>
                </a:solidFill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968496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3D1F00"/>
                </a:solidFill>
              </a:rPr>
              <a:t>手机App翻牌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4832" y="4626864"/>
            <a:ext cx="32461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B6247"/>
                </a:solidFill>
              </a:rPr>
              <a:t>记忆配对学习手机图标，提升数字素养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84832" y="5449824"/>
            <a:ext cx="1737360" cy="274320"/>
          </a:xfrm>
          <a:prstGeom prst="rect">
            <a:avLst/>
          </a:prstGeom>
          <a:solidFill>
            <a:srgbClr val="F5C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84832" y="5449824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D1F00"/>
                </a:solidFill>
              </a:rPr>
              <a:t>+数字生存力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33872" y="3730752"/>
            <a:ext cx="3611880" cy="2121408"/>
          </a:xfrm>
          <a:prstGeom prst="rect">
            <a:avLst/>
          </a:prstGeom>
          <a:solidFill>
            <a:srgbClr val="FFF3E0"/>
          </a:solidFill>
          <a:ln w="1524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998464" y="3913632"/>
            <a:ext cx="621792" cy="621792"/>
          </a:xfrm>
          <a:prstGeom prst="ellipse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98464" y="3895344"/>
            <a:ext cx="621792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3D1F00"/>
                </a:solidFill>
              </a:rPr>
              <a:t>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3968496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3D1F00"/>
                </a:solidFill>
              </a:rPr>
              <a:t>广场舞节奏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98464" y="4626864"/>
            <a:ext cx="324612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B6247"/>
                </a:solidFill>
              </a:rPr>
              <a:t>踩准节拍跳广场舞，强身健体融入社区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98464" y="5449824"/>
            <a:ext cx="1737360" cy="274320"/>
          </a:xfrm>
          <a:prstGeom prst="rect">
            <a:avLst/>
          </a:prstGeom>
          <a:solidFill>
            <a:srgbClr val="F5C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98464" y="5449824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D1F00"/>
                </a:solidFill>
              </a:rPr>
              <a:t>+健康+社交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302037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AI </a:t>
            </a:r>
            <a:r>
              <a:rPr sz="3000" b="1" i="0" dirty="0" err="1">
                <a:solidFill>
                  <a:srgbClr val="FFFFFF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辅助创作说明</a:t>
            </a:r>
            <a:endParaRPr sz="3000" b="1" i="0" dirty="0">
              <a:solidFill>
                <a:srgbClr val="FFFFFF"/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5488" y="1353312"/>
            <a:ext cx="3611880" cy="4389120"/>
          </a:xfrm>
          <a:prstGeom prst="rect">
            <a:avLst/>
          </a:prstGeom>
          <a:solidFill>
            <a:srgbClr val="3D2005"/>
          </a:solidFill>
          <a:ln w="1905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19656" y="1554480"/>
            <a:ext cx="932688" cy="932688"/>
          </a:xfrm>
          <a:prstGeom prst="ellipse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19656" y="1536192"/>
            <a:ext cx="932688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3D1F00"/>
                </a:solidFill>
              </a:rP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51760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创意 &amp; 概念设计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27248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F5C060"/>
                </a:solidFill>
              </a:rPr>
              <a:t>作者本人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1044" y="3566160"/>
            <a:ext cx="280076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dirty="0" err="1">
                <a:solidFill>
                  <a:srgbClr val="C89868"/>
                </a:solidFill>
              </a:rPr>
              <a:t>游戏核心概念、叙事框架、玩法机制</a:t>
            </a:r>
            <a:r>
              <a:rPr sz="1200" b="0" i="0" dirty="0">
                <a:solidFill>
                  <a:srgbClr val="C89868"/>
                </a:solidFill>
              </a:rPr>
              <a:t>、</a:t>
            </a:r>
            <a:endParaRPr lang="en-US" sz="1200" b="0" i="0" dirty="0">
              <a:solidFill>
                <a:srgbClr val="C89868"/>
              </a:solidFill>
            </a:endParaRPr>
          </a:p>
          <a:p>
            <a:pPr algn="ctr"/>
            <a:r>
              <a:rPr sz="1200" b="0" i="0" dirty="0" err="1">
                <a:solidFill>
                  <a:srgbClr val="C89868"/>
                </a:solidFill>
              </a:rPr>
              <a:t>结局设计，全部由作者独立构思完成</a:t>
            </a:r>
            <a:r>
              <a:rPr sz="1200" b="0" i="0" dirty="0">
                <a:solidFill>
                  <a:srgbClr val="C89868"/>
                </a:solidFill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5394960"/>
            <a:ext cx="2194560" cy="347472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5394960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独立完成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53312"/>
            <a:ext cx="3611880" cy="4389120"/>
          </a:xfrm>
          <a:prstGeom prst="rect">
            <a:avLst/>
          </a:prstGeom>
          <a:solidFill>
            <a:srgbClr val="3D2005"/>
          </a:solidFill>
          <a:ln w="1905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33288" y="1554480"/>
            <a:ext cx="932688" cy="932688"/>
          </a:xfrm>
          <a:prstGeom prst="ellipse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33288" y="1536192"/>
            <a:ext cx="932688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3D1F00"/>
                </a:solidFill>
              </a:rPr>
              <a:t>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开场动画视频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27248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F5C060"/>
                </a:solidFill>
              </a:rPr>
              <a:t>Google Gemini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2766" y="3566160"/>
            <a:ext cx="270458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dirty="0" err="1">
                <a:solidFill>
                  <a:srgbClr val="C89868"/>
                </a:solidFill>
              </a:rPr>
              <a:t>以文字描述为提示词</a:t>
            </a:r>
            <a:r>
              <a:rPr sz="1200" b="0" i="0" dirty="0">
                <a:solidFill>
                  <a:srgbClr val="C89868"/>
                </a:solidFill>
              </a:rPr>
              <a:t>，</a:t>
            </a:r>
            <a:endParaRPr lang="en-US" sz="1200" b="0" i="0" dirty="0">
              <a:solidFill>
                <a:srgbClr val="C89868"/>
              </a:solidFill>
            </a:endParaRPr>
          </a:p>
          <a:p>
            <a:pPr algn="ctr"/>
            <a:r>
              <a:rPr sz="1200" b="0" i="0" dirty="0" err="1">
                <a:solidFill>
                  <a:srgbClr val="C89868"/>
                </a:solidFill>
              </a:rPr>
              <a:t>由</a:t>
            </a:r>
            <a:r>
              <a:rPr sz="1200" b="0" i="0" dirty="0">
                <a:solidFill>
                  <a:srgbClr val="C89868"/>
                </a:solidFill>
              </a:rPr>
              <a:t> Gemini </a:t>
            </a:r>
            <a:r>
              <a:rPr sz="1200" b="0" i="0" dirty="0" err="1">
                <a:solidFill>
                  <a:srgbClr val="C89868"/>
                </a:solidFill>
              </a:rPr>
              <a:t>生成像素风开场动画视频</a:t>
            </a:r>
            <a:r>
              <a:rPr sz="1200" b="0" i="0" dirty="0">
                <a:solidFill>
                  <a:srgbClr val="C89868"/>
                </a:solidFill>
              </a:rPr>
              <a:t>，</a:t>
            </a:r>
            <a:endParaRPr lang="en-US" sz="1200" b="0" i="0" dirty="0">
              <a:solidFill>
                <a:srgbClr val="C89868"/>
              </a:solidFill>
            </a:endParaRPr>
          </a:p>
          <a:p>
            <a:pPr algn="ctr"/>
            <a:r>
              <a:rPr sz="1200" b="0" i="0" dirty="0" err="1">
                <a:solidFill>
                  <a:srgbClr val="C89868"/>
                </a:solidFill>
              </a:rPr>
              <a:t>呈现推门看见独居老人的场景</a:t>
            </a:r>
            <a:r>
              <a:rPr sz="1200" b="0" i="0" dirty="0">
                <a:solidFill>
                  <a:srgbClr val="C89868"/>
                </a:solidFill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5394960"/>
            <a:ext cx="2194560" cy="347472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02352" y="5394960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Gemini 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02752" y="1353312"/>
            <a:ext cx="3611880" cy="4389120"/>
          </a:xfrm>
          <a:prstGeom prst="rect">
            <a:avLst/>
          </a:prstGeom>
          <a:solidFill>
            <a:srgbClr val="3D2005"/>
          </a:solidFill>
          <a:ln w="1905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46920" y="1554480"/>
            <a:ext cx="932688" cy="932688"/>
          </a:xfrm>
          <a:prstGeom prst="ellipse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46920" y="1536192"/>
            <a:ext cx="932688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3D1F00"/>
                </a:solidFill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651760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代码 / UI / 音乐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127248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F5C060"/>
                </a:solidFill>
              </a:rPr>
              <a:t>Anthropic 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8732" y="3566160"/>
            <a:ext cx="32199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dirty="0" err="1">
                <a:solidFill>
                  <a:srgbClr val="C89868"/>
                </a:solidFill>
              </a:rPr>
              <a:t>游戏全部代码、暖色调UI、CSS动画</a:t>
            </a:r>
            <a:r>
              <a:rPr sz="1200" b="0" i="0" dirty="0">
                <a:solidFill>
                  <a:srgbClr val="C89868"/>
                </a:solidFill>
              </a:rPr>
              <a:t>、</a:t>
            </a:r>
            <a:endParaRPr lang="en-US" sz="1200" b="0" i="0" dirty="0">
              <a:solidFill>
                <a:srgbClr val="C89868"/>
              </a:solidFill>
            </a:endParaRPr>
          </a:p>
          <a:p>
            <a:pPr algn="ctr"/>
            <a:r>
              <a:rPr sz="1200" b="0" i="0" dirty="0">
                <a:solidFill>
                  <a:srgbClr val="C89868"/>
                </a:solidFill>
              </a:rPr>
              <a:t>Web </a:t>
            </a:r>
            <a:r>
              <a:rPr sz="1200" b="0" i="0" dirty="0" err="1">
                <a:solidFill>
                  <a:srgbClr val="C89868"/>
                </a:solidFill>
              </a:rPr>
              <a:t>Audio背景音乐，均由</a:t>
            </a:r>
            <a:r>
              <a:rPr sz="1200" b="0" i="0" dirty="0">
                <a:solidFill>
                  <a:srgbClr val="C89868"/>
                </a:solidFill>
              </a:rPr>
              <a:t> Claude </a:t>
            </a:r>
            <a:r>
              <a:rPr sz="1200" b="0" i="0" dirty="0" err="1">
                <a:solidFill>
                  <a:srgbClr val="C89868"/>
                </a:solidFill>
              </a:rPr>
              <a:t>辅助生成</a:t>
            </a:r>
            <a:r>
              <a:rPr sz="1200" b="0" i="0" dirty="0">
                <a:solidFill>
                  <a:srgbClr val="C89868"/>
                </a:solidFill>
              </a:rPr>
              <a:t>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5394960"/>
            <a:ext cx="2194560" cy="347472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15984" y="5394960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Claude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75560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000" b="1" i="0" dirty="0">
                <a:solidFill>
                  <a:srgbClr val="3D1F00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团队信息</a:t>
            </a:r>
            <a:endParaRPr sz="3000" b="1" i="0" dirty="0">
              <a:solidFill>
                <a:srgbClr val="3D1F00"/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353312"/>
            <a:ext cx="5440680" cy="44348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817" y="1837944"/>
            <a:ext cx="630301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700" b="1" i="0" dirty="0">
                <a:solidFill>
                  <a:srgbClr val="3D1F00"/>
                </a:solidFill>
                <a:latin typeface="Lantinghei SC Demibold" panose="02000000000000000000" pitchFamily="2" charset="-122"/>
                <a:ea typeface="Lantinghei SC Demibold" panose="02000000000000000000" pitchFamily="2" charset="-122"/>
              </a:rPr>
              <a:t>队长</a:t>
            </a:r>
            <a:endParaRPr sz="1700" b="1" i="0" dirty="0">
              <a:solidFill>
                <a:srgbClr val="3D1F00"/>
              </a:solidFill>
              <a:latin typeface="Lantinghei SC Demibold" panose="02000000000000000000" pitchFamily="2" charset="-122"/>
              <a:ea typeface="Lantinghei SC Demibold" panose="02000000000000000000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8952" y="257860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450592"/>
            <a:ext cx="68480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1300" b="0" i="0" dirty="0">
                <a:solidFill>
                  <a:srgbClr val="3D1F00"/>
                </a:solidFill>
              </a:rPr>
              <a:t>周</a:t>
            </a:r>
            <a:r>
              <a:rPr lang="zh-CN" altLang="en-US" sz="1300" dirty="0">
                <a:solidFill>
                  <a:srgbClr val="3D1F00"/>
                </a:solidFill>
              </a:rPr>
              <a:t>余阅</a:t>
            </a:r>
            <a:endParaRPr sz="1300" b="0" i="0" dirty="0">
              <a:solidFill>
                <a:srgbClr val="3D1F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8952" y="317296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04495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 dirty="0" err="1">
                <a:solidFill>
                  <a:srgbClr val="3D1F00"/>
                </a:solidFill>
              </a:rPr>
              <a:t>网购生活道具（防诈骗</a:t>
            </a:r>
            <a:r>
              <a:rPr sz="1300" b="0" i="0" dirty="0">
                <a:solidFill>
                  <a:srgbClr val="3D1F00"/>
                </a:solidFill>
              </a:rPr>
              <a:t>/</a:t>
            </a:r>
            <a:r>
              <a:rPr sz="1300" b="0" i="0" dirty="0" err="1">
                <a:solidFill>
                  <a:srgbClr val="3D1F00"/>
                </a:solidFill>
              </a:rPr>
              <a:t>适老化</a:t>
            </a:r>
            <a:r>
              <a:rPr sz="1300" b="0" i="0" dirty="0">
                <a:solidFill>
                  <a:srgbClr val="3D1F00"/>
                </a:solidFill>
              </a:rPr>
              <a:t>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376732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63931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任务与购物共享次数，合理分配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436168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23367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完成任务提升对应属性值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353312"/>
            <a:ext cx="5440680" cy="44348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C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1778508"/>
            <a:ext cx="63030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1700" b="1" i="0" dirty="0">
                <a:solidFill>
                  <a:srgbClr val="3D1F00"/>
                </a:solidFill>
              </a:rPr>
              <a:t>成员</a:t>
            </a:r>
            <a:endParaRPr sz="1700" b="1" i="0" dirty="0">
              <a:solidFill>
                <a:srgbClr val="3D1F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11112" y="257860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45059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触发 5 种互动小游戏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11112" y="317296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3044952"/>
            <a:ext cx="169168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" sz="1300" b="0" i="0">
                <a:solidFill>
                  <a:srgbClr val="3D1F00"/>
                </a:solidFill>
              </a:rPr>
              <a:t>2141382079@qq.com</a:t>
            </a:r>
            <a:endParaRPr sz="1300" b="0" i="0" dirty="0">
              <a:solidFill>
                <a:srgbClr val="3D1F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611112" y="376732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363931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通关小游戏获得额外属性加成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1112" y="4361688"/>
            <a:ext cx="91440" cy="91440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233672"/>
            <a:ext cx="46634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3D1F00"/>
                </a:solidFill>
              </a:rPr>
              <a:t>随机事件考验道具与应对策略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solidFill>
            <a:srgbClr val="D48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83112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🏆  真结局：数字生存力 ≥78  ·  社交活跃度 ≥78  ·  健康幸福感 ≥62</a:t>
            </a:r>
          </a:p>
        </p:txBody>
      </p:sp>
    </p:spTree>
    <p:extLst>
      <p:ext uri="{BB962C8B-B14F-4D97-AF65-F5344CB8AC3E}">
        <p14:creationId xmlns:p14="http://schemas.microsoft.com/office/powerpoint/2010/main" val="310776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97280" y="3200400"/>
            <a:ext cx="5029200" cy="5029200"/>
          </a:xfrm>
          <a:prstGeom prst="ellipse">
            <a:avLst/>
          </a:prstGeom>
          <a:solidFill>
            <a:srgbClr val="4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457200"/>
            <a:ext cx="4114800" cy="4114800"/>
          </a:xfrm>
          <a:prstGeom prst="ellipse">
            <a:avLst/>
          </a:prstGeom>
          <a:solidFill>
            <a:srgbClr val="3A1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84648" y="50292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0" i="0">
                <a:solidFill>
                  <a:srgbClr val="3D1F00"/>
                </a:solidFill>
              </a:rP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737360"/>
            <a:ext cx="6309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银发守护者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697480"/>
            <a:ext cx="6309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F5C060"/>
                </a:solidFill>
              </a:rPr>
              <a:t>Silver Guardian</a:t>
            </a:r>
          </a:p>
        </p:txBody>
      </p:sp>
      <p:sp>
        <p:nvSpPr>
          <p:cNvPr id="7" name="Block Arc 6"/>
          <p:cNvSpPr/>
          <p:nvPr/>
        </p:nvSpPr>
        <p:spPr>
          <a:xfrm>
            <a:off x="3200400" y="3337560"/>
            <a:ext cx="5760720" cy="0"/>
          </a:xfrm>
          <a:prstGeom prst="blockArc">
            <a:avLst/>
          </a:prstGeom>
          <a:ln w="19050">
            <a:solidFill>
              <a:srgbClr val="D48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352044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89868"/>
                </a:solidFill>
              </a:rPr>
              <a:t>联系作者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005072"/>
            <a:ext cx="6309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📧  2582398576@qq.com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047488"/>
            <a:ext cx="8503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C89868"/>
                </a:solidFill>
              </a:rPr>
              <a:t>感谢体验  ·  关注老年人数字融合  ·  从身边开始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248</Words>
  <Application>Microsoft Macintosh PowerPoint</Application>
  <PresentationFormat>自定义</PresentationFormat>
  <Paragraphs>98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Lantinghei SC Demibold</vt:lpstr>
      <vt:lpstr>Lantinghei SC Demibold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Zhou, Yuyue</cp:lastModifiedBy>
  <cp:revision>3</cp:revision>
  <dcterms:created xsi:type="dcterms:W3CDTF">2013-01-27T09:14:16Z</dcterms:created>
  <dcterms:modified xsi:type="dcterms:W3CDTF">2026-06-09T07:55:54Z</dcterms:modified>
  <cp:category/>
</cp:coreProperties>
</file>